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256" r:id="rId2"/>
    <p:sldId id="293" r:id="rId3"/>
    <p:sldId id="296" r:id="rId4"/>
    <p:sldId id="298" r:id="rId5"/>
    <p:sldId id="299" r:id="rId6"/>
    <p:sldId id="303" r:id="rId7"/>
    <p:sldId id="295" r:id="rId8"/>
    <p:sldId id="311" r:id="rId9"/>
    <p:sldId id="312" r:id="rId10"/>
    <p:sldId id="31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4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A972CD-BAFC-68F6-6E43-FA8178F81A2F}" v="26" dt="2026-02-02T02:53:50.5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S::tanvirahmed@aiub.edu::f091772c-3389-425a-a2e7-62662c253737" providerId="AD" clId="Web-{4CA972CD-BAFC-68F6-6E43-FA8178F81A2F}"/>
    <pc:docChg chg="modSld">
      <pc:chgData name="TANVIR AHMED" userId="S::tanvirahmed@aiub.edu::f091772c-3389-425a-a2e7-62662c253737" providerId="AD" clId="Web-{4CA972CD-BAFC-68F6-6E43-FA8178F81A2F}" dt="2026-02-02T02:53:50.591" v="25" actId="20577"/>
      <pc:docMkLst>
        <pc:docMk/>
      </pc:docMkLst>
      <pc:sldChg chg="modSp">
        <pc:chgData name="TANVIR AHMED" userId="S::tanvirahmed@aiub.edu::f091772c-3389-425a-a2e7-62662c253737" providerId="AD" clId="Web-{4CA972CD-BAFC-68F6-6E43-FA8178F81A2F}" dt="2026-02-02T02:53:50.591" v="25" actId="20577"/>
        <pc:sldMkLst>
          <pc:docMk/>
          <pc:sldMk cId="2664565021" sldId="256"/>
        </pc:sldMkLst>
        <pc:spChg chg="mod">
          <ac:chgData name="TANVIR AHMED" userId="S::tanvirahmed@aiub.edu::f091772c-3389-425a-a2e7-62662c253737" providerId="AD" clId="Web-{4CA972CD-BAFC-68F6-6E43-FA8178F81A2F}" dt="2026-02-02T02:53:50.591" v="25" actId="20577"/>
          <ac:spMkLst>
            <pc:docMk/>
            <pc:sldMk cId="2664565021" sldId="256"/>
            <ac:spMk id="24" creationId="{C2082529-78D7-4EA7-BFF9-A1D1F62040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01/02/2026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37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5791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773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ihan.mahmud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>
                <a:solidFill>
                  <a:srgbClr val="FFFFFF"/>
                </a:solidFill>
              </a:rPr>
              <a:t>Course Name</a:t>
            </a:r>
            <a:br>
              <a:rPr lang="en-US" sz="2400" cap="all">
                <a:solidFill>
                  <a:srgbClr val="FFFFFF"/>
                </a:solidFill>
              </a:rPr>
            </a:br>
            <a:br>
              <a:rPr lang="en-US" sz="2400" cap="all">
                <a:solidFill>
                  <a:srgbClr val="FFFFFF"/>
                </a:solidFill>
              </a:rPr>
            </a:br>
            <a:r>
              <a:rPr lang="en-US" sz="2400" cap="all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2</a:t>
            </a:r>
            <a:br>
              <a:rPr lang="en-US" sz="3000">
                <a:solidFill>
                  <a:srgbClr val="C00000"/>
                </a:solidFill>
              </a:rPr>
            </a:br>
            <a:br>
              <a:rPr lang="en-US" sz="3000">
                <a:solidFill>
                  <a:schemeClr val="tx2"/>
                </a:solidFill>
              </a:rPr>
            </a:br>
            <a:r>
              <a:rPr lang="en-US" sz="3000">
                <a:solidFill>
                  <a:schemeClr val="tx2"/>
                </a:solidFill>
              </a:rPr>
              <a:t>software development process model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8005916" y="4678590"/>
            <a:ext cx="4660900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dirty="0">
                <a:solidFill>
                  <a:srgbClr val="7030A0"/>
                </a:solidFill>
              </a:rPr>
              <a:t>Tanvir </a:t>
            </a:r>
            <a:r>
              <a:rPr lang="en-US" sz="3200" dirty="0" err="1">
                <a:solidFill>
                  <a:srgbClr val="7030A0"/>
                </a:solidFill>
              </a:rPr>
              <a:t>ahmed</a:t>
            </a:r>
          </a:p>
          <a:p>
            <a:r>
              <a:rPr lang="en-US" sz="28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cap="none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tanvirahmed</a:t>
            </a:r>
            <a:r>
              <a:rPr lang="en-US" sz="2800" cap="none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@aiub.edu</a:t>
            </a:r>
            <a:r>
              <a:rPr lang="en-US" sz="2800" cap="none" dirty="0">
                <a:solidFill>
                  <a:schemeClr val="tx1"/>
                </a:solidFill>
              </a:rPr>
              <a:t> </a:t>
            </a:r>
            <a:endParaRPr lang="en-US" sz="3200" cap="none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2024743"/>
            <a:ext cx="10652865" cy="22341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A structured set of activities required to develop a software system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A software process model is an abstract representation of a process.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It presents a description of a process from some particular perspective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5738" y="1996441"/>
            <a:ext cx="9241302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957943" y="3154016"/>
            <a:ext cx="10652865" cy="356483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200" b="1">
                <a:latin typeface="+mj-lt"/>
                <a:cs typeface="Times New Roman" panose="02020603050405020304" pitchFamily="18" charset="0"/>
              </a:rPr>
              <a:t>The waterfall or linear sequential model </a:t>
            </a:r>
          </a:p>
          <a:p>
            <a:pPr marL="0" indent="0">
              <a:buNone/>
            </a:pPr>
            <a:r>
              <a:rPr lang="en-GB" sz="220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Problems of the Waterfall Model</a:t>
            </a:r>
            <a:r>
              <a:rPr lang="en-GB" sz="2200">
                <a:latin typeface="+mj-lt"/>
                <a:cs typeface="Times New Roman" panose="02020603050405020304" pitchFamily="18" charset="0"/>
              </a:rPr>
              <a:t>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Inflexible partitioning of the project into distinct stages. The </a:t>
            </a:r>
            <a:r>
              <a:rPr lang="en-US" sz="2200">
                <a:latin typeface="+mj-lt"/>
                <a:cs typeface="Times New Roman" panose="02020603050405020304" pitchFamily="18" charset="0"/>
              </a:rPr>
              <a:t>next phase starts only after the completion of the previous phase</a:t>
            </a:r>
            <a:endParaRPr lang="en-GB" sz="2200">
              <a:latin typeface="+mj-lt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This makes it difficult to respond to changing customer requirements (no backtracking)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200">
                <a:latin typeface="+mj-lt"/>
                <a:cs typeface="Times New Roman" panose="02020603050405020304" pitchFamily="18" charset="0"/>
              </a:rPr>
              <a:t>Therefore, this model is only appropriate when the requirements are well-understood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03E40-ADDA-0C78-EA84-D404D5D51F3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73183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 -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45" y="1941341"/>
            <a:ext cx="6206096" cy="43891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The V-model is an SDLC model in which process execution happens sequentially in a V-shape. It is also known as a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Verification and Validation </a:t>
            </a:r>
            <a:r>
              <a:rPr lang="en-US" sz="2000">
                <a:latin typeface="+mj-lt"/>
              </a:rPr>
              <a:t>model.</a:t>
            </a:r>
          </a:p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V-Model is an extension of the waterfall model and is based on an association of a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testing phase </a:t>
            </a:r>
            <a:r>
              <a:rPr lang="en-US" sz="2000">
                <a:latin typeface="+mj-lt"/>
              </a:rPr>
              <a:t>for each corresponding development stage. This means that every single phase in the development cycle has a directly associated testing phase.</a:t>
            </a:r>
          </a:p>
          <a:p>
            <a:pPr>
              <a:buFont typeface="Wingdings" pitchFamily="2" charset="2"/>
              <a:buChar char="q"/>
            </a:pPr>
            <a:r>
              <a:rPr lang="en-US" sz="2000">
                <a:latin typeface="+mj-lt"/>
              </a:rPr>
              <a:t>This is a highly disciplined model, and the next phase starts only after the completion of the previous phase.</a:t>
            </a:r>
            <a:endParaRPr lang="en-GB" sz="200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040011" y="2330539"/>
            <a:ext cx="4726166" cy="3637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2F2794-2A4A-41F1-381E-0501570FF3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392513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Prototyping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567" y="1887565"/>
            <a:ext cx="6492109" cy="471201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Requirements are not precise, and the p</a:t>
            </a:r>
            <a:r>
              <a:rPr lang="en-GB" sz="2200"/>
              <a:t>rototype serves as a mechanism for identifying software requirements</a:t>
            </a:r>
            <a:endParaRPr lang="en-GB" sz="2200">
              <a:latin typeface="+mj-lt"/>
            </a:endParaRPr>
          </a:p>
          <a:p>
            <a:pPr>
              <a:buFont typeface="Wingdings" pitchFamily="2" charset="2"/>
              <a:buChar char="q"/>
            </a:pPr>
            <a:r>
              <a:rPr lang="en-GB" sz="2200">
                <a:latin typeface="+mj-lt"/>
              </a:rPr>
              <a:t>Iteration occurs as the prototype is tuned to satisfy the needs of the customer</a:t>
            </a:r>
          </a:p>
          <a:p>
            <a:pPr>
              <a:buFont typeface="Wingdings" pitchFamily="2" charset="2"/>
              <a:buChar char="q"/>
            </a:pPr>
            <a:r>
              <a:rPr lang="en-GB" sz="2200"/>
              <a:t>System requirements ALWAYS evolve during a project, so process iteration is proper where earlier stages are reworked and is always part of the process for large systems</a:t>
            </a:r>
            <a:endParaRPr lang="en-GB" sz="2200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61676" y="1887565"/>
            <a:ext cx="4254944" cy="3664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CDD077-DB25-5B43-C3F8-958B39DDA0A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2769073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58955"/>
            <a:ext cx="11029616" cy="1013800"/>
          </a:xfrm>
        </p:spPr>
        <p:txBody>
          <a:bodyPr>
            <a:normAutofit/>
          </a:bodyPr>
          <a:lstStyle/>
          <a:p>
            <a:r>
              <a:rPr lang="en-GB"/>
              <a:t>Incremental development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55" y="1920241"/>
            <a:ext cx="11109622" cy="2129244"/>
          </a:xfrm>
        </p:spPr>
        <p:txBody>
          <a:bodyPr>
            <a:normAutofit fontScale="92500"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Rather than </a:t>
            </a:r>
            <a:r>
              <a:rPr lang="en-US" sz="2000">
                <a:latin typeface="+mj-lt"/>
              </a:rPr>
              <a:t>delivering the system as a single delivery, development and </a:t>
            </a:r>
            <a:r>
              <a:rPr lang="en-US" sz="2000">
                <a:solidFill>
                  <a:srgbClr val="C00000"/>
                </a:solidFill>
                <a:latin typeface="+mj-lt"/>
              </a:rPr>
              <a:t>delivery are broken down into increments,</a:t>
            </a:r>
            <a:r>
              <a:rPr lang="en-GB" sz="2000">
                <a:latin typeface="+mj-lt"/>
              </a:rPr>
              <a:t> with each increment delivering part of the required functionality (SPIRAL).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T</a:t>
            </a:r>
            <a:r>
              <a:rPr lang="en-US" sz="2000"/>
              <a:t>he requirements are relatively certain but there are many complexities that leads to frequent changes.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User requirements are prioritized, and the </a:t>
            </a:r>
            <a:r>
              <a:rPr lang="en-GB" sz="2000">
                <a:solidFill>
                  <a:srgbClr val="C00000"/>
                </a:solidFill>
                <a:latin typeface="+mj-lt"/>
              </a:rPr>
              <a:t>highest priority requirements</a:t>
            </a:r>
            <a:r>
              <a:rPr lang="en-GB" sz="2000">
                <a:latin typeface="+mj-lt"/>
              </a:rPr>
              <a:t> are included in early increments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defRPr/>
            </a:pPr>
            <a:r>
              <a:rPr lang="en-GB" sz="2000">
                <a:latin typeface="+mj-lt"/>
              </a:rPr>
              <a:t>Once the development of an increment is started, the </a:t>
            </a:r>
            <a:r>
              <a:rPr lang="en-GB" sz="2000">
                <a:solidFill>
                  <a:srgbClr val="C00000"/>
                </a:solidFill>
                <a:latin typeface="+mj-lt"/>
              </a:rPr>
              <a:t>requirements are frozen</a:t>
            </a:r>
            <a:r>
              <a:rPr lang="en-GB" sz="2000">
                <a:latin typeface="+mj-lt"/>
              </a:rPr>
              <a:t> though requirements for later increments can continue to evolve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12"/>
          <p:cNvGrpSpPr>
            <a:grpSpLocks/>
          </p:cNvGrpSpPr>
          <p:nvPr/>
        </p:nvGrpSpPr>
        <p:grpSpPr bwMode="auto">
          <a:xfrm>
            <a:off x="3801291" y="4271554"/>
            <a:ext cx="6489700" cy="570410"/>
            <a:chOff x="960" y="1248"/>
            <a:chExt cx="4088" cy="432"/>
          </a:xfrm>
        </p:grpSpPr>
        <p:sp>
          <p:nvSpPr>
            <p:cNvPr id="8" name="Rectangle 3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#1</a:t>
              </a: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 flipH="1">
            <a:off x="3572690" y="4284616"/>
            <a:ext cx="45719" cy="225747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3572691" y="6553200"/>
            <a:ext cx="7620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909616" y="6553200"/>
            <a:ext cx="1187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latin typeface="Calibri" pitchFamily="34" charset="0"/>
              </a:rPr>
              <a:t>Calendar time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4638261" y="4976949"/>
            <a:ext cx="6808793" cy="677091"/>
            <a:chOff x="960" y="1248"/>
            <a:chExt cx="4088" cy="432"/>
          </a:xfrm>
        </p:grpSpPr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4176" y="1248"/>
              <a:ext cx="872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</a:t>
              </a:r>
            </a:p>
            <a:p>
              <a:r>
                <a:rPr lang="en-GB">
                  <a:latin typeface="Calibri" pitchFamily="34" charset="0"/>
                </a:rPr>
                <a:t>increment #2</a:t>
              </a: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5406887" y="5865222"/>
            <a:ext cx="6552652" cy="535577"/>
            <a:chOff x="960" y="1248"/>
            <a:chExt cx="3931" cy="432"/>
          </a:xfrm>
        </p:grpSpPr>
        <p:sp>
          <p:nvSpPr>
            <p:cNvPr id="23" name="Rectangle 20"/>
            <p:cNvSpPr>
              <a:spLocks noChangeArrowheads="1"/>
            </p:cNvSpPr>
            <p:nvPr/>
          </p:nvSpPr>
          <p:spPr bwMode="auto">
            <a:xfrm>
              <a:off x="9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Analysis</a:t>
              </a:r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728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Design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544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Code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3360" y="1248"/>
              <a:ext cx="67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GB">
                  <a:latin typeface="Calibri" pitchFamily="34" charset="0"/>
                </a:rPr>
                <a:t>Test</a:t>
              </a:r>
            </a:p>
          </p:txBody>
        </p:sp>
        <p:sp>
          <p:nvSpPr>
            <p:cNvPr id="27" name="Text Box 24"/>
            <p:cNvSpPr txBox="1">
              <a:spLocks noChangeArrowheads="1"/>
            </p:cNvSpPr>
            <p:nvPr/>
          </p:nvSpPr>
          <p:spPr bwMode="auto">
            <a:xfrm>
              <a:off x="4108" y="1248"/>
              <a:ext cx="783" cy="2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GB">
                  <a:latin typeface="Calibri" pitchFamily="34" charset="0"/>
                </a:rPr>
                <a:t>Delivery #3</a:t>
              </a:r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C10A0D-78A2-BF7F-A7E4-9820261191B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567044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Rapid Application Development (RAD)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349931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/>
              <a:t>It is a type of incremental model. The developments are time-boxed, delivered, and then assembled into a working  prototype</a:t>
            </a:r>
          </a:p>
          <a:p>
            <a:pPr>
              <a:buFont typeface="Wingdings" pitchFamily="2" charset="2"/>
              <a:buChar char="q"/>
            </a:pPr>
            <a:r>
              <a:rPr lang="en-US" sz="2000"/>
              <a:t>In the RAD model, the components or functions are </a:t>
            </a:r>
            <a:r>
              <a:rPr lang="en-US" sz="2000">
                <a:solidFill>
                  <a:srgbClr val="C00000"/>
                </a:solidFill>
              </a:rPr>
              <a:t>developed in parallel </a:t>
            </a:r>
            <a:r>
              <a:rPr lang="en-US" sz="2000"/>
              <a:t>as if they were mini projects (frozen requirements in each increment)</a:t>
            </a:r>
          </a:p>
          <a:p>
            <a:pPr>
              <a:buFont typeface="Wingdings" pitchFamily="2" charset="2"/>
              <a:buChar char="q"/>
            </a:pPr>
            <a:r>
              <a:rPr lang="en-US" sz="2000"/>
              <a:t> This can quickly give the customer something to see and use and to provide feedback</a:t>
            </a:r>
          </a:p>
          <a:p>
            <a:pPr>
              <a:buFont typeface="Wingdings" pitchFamily="2" charset="2"/>
              <a:buChar char="q"/>
            </a:pPr>
            <a:r>
              <a:rPr lang="en-GB" altLang="en-US" sz="2000"/>
              <a:t>Delivers a fully functional system in </a:t>
            </a:r>
            <a:r>
              <a:rPr lang="en-GB" altLang="en-US" sz="2000">
                <a:solidFill>
                  <a:srgbClr val="C00000"/>
                </a:solidFill>
              </a:rPr>
              <a:t>90 days</a:t>
            </a:r>
            <a:r>
              <a:rPr lang="en-GB" altLang="en-US" sz="2000"/>
              <a:t>, give or take 30 days</a:t>
            </a:r>
            <a:r>
              <a:rPr lang="en-US" sz="2000"/>
              <a:t> 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GB" altLang="en-US" sz="2000"/>
              <a:t>Phases of RAD are: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Requirements Planning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User Design </a:t>
            </a:r>
            <a:r>
              <a:rPr lang="en-GB" altLang="en-US" sz="2000"/>
              <a:t>(user interacts with the system analysts)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Construction</a:t>
            </a:r>
            <a:r>
              <a:rPr lang="en-GB" altLang="en-US" sz="2000">
                <a:solidFill>
                  <a:srgbClr val="FF0000"/>
                </a:solidFill>
              </a:rPr>
              <a:t> </a:t>
            </a:r>
            <a:r>
              <a:rPr lang="en-GB" altLang="en-US" sz="2000"/>
              <a:t> (program and application development)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GB" altLang="en-US" sz="2000">
                <a:solidFill>
                  <a:srgbClr val="0070C0"/>
                </a:solidFill>
              </a:rPr>
              <a:t>Cutover</a:t>
            </a:r>
            <a:r>
              <a:rPr lang="en-GB" altLang="en-US" sz="2000">
                <a:solidFill>
                  <a:srgbClr val="FF0000"/>
                </a:solidFill>
              </a:rPr>
              <a:t> </a:t>
            </a:r>
            <a:r>
              <a:rPr lang="en-GB" altLang="en-US" sz="2000"/>
              <a:t>(testing, changeover to new system, user training)</a:t>
            </a:r>
            <a:endParaRPr lang="en-US" sz="2200" b="1"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64714" cy="1053864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6D9ECC-68FF-8D7D-811B-14DD60441EA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37332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Rational Unified Process (RUP)</a:t>
            </a:r>
            <a:endParaRPr lang="en-US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37" y="1920239"/>
            <a:ext cx="11299372" cy="47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49773-2BDA-ACC8-8895-B0E381214C7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64716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Risk profile</a:t>
            </a:r>
            <a:endParaRPr lang="en-US">
              <a:latin typeface="Bell MT" pitchFamily="18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38589" cy="1001612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9537" y="1854925"/>
            <a:ext cx="8279674" cy="4781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4E10F-2430-EE4F-3CEE-3FB90BB588D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156127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>
                <a:ea typeface="ＭＳ Ｐゴシック" pitchFamily="34" charset="-128"/>
              </a:rPr>
              <a:t>R.S. Pressman &amp; Associates, Inc. (2010). </a:t>
            </a:r>
            <a:r>
              <a:rPr lang="en-US" sz="2000" i="1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/>
              <a:t>Kelly, J. C., </a:t>
            </a:r>
            <a:r>
              <a:rPr lang="en-US" sz="2000" err="1"/>
              <a:t>Sherif</a:t>
            </a:r>
            <a:r>
              <a:rPr lang="en-US" sz="2000"/>
              <a:t>, J. S., &amp; Hops, J. (1992). An analysis of defect densities found during software inspections. </a:t>
            </a:r>
            <a:r>
              <a:rPr lang="en-US" sz="2000" i="1"/>
              <a:t>Journal of Systems and Software</a:t>
            </a:r>
            <a:r>
              <a:rPr lang="en-US" sz="2000"/>
              <a:t>, </a:t>
            </a:r>
            <a:r>
              <a:rPr lang="en-US" sz="2000" i="1"/>
              <a:t>17</a:t>
            </a:r>
            <a:r>
              <a:rPr lang="en-US" sz="2000"/>
              <a:t>(2), 111-117.</a:t>
            </a:r>
          </a:p>
          <a:p>
            <a:pPr>
              <a:defRPr/>
            </a:pPr>
            <a:r>
              <a:rPr lang="en-US" sz="2000"/>
              <a:t>Bhandari, I., Halliday, M. J., </a:t>
            </a:r>
            <a:r>
              <a:rPr lang="en-US" sz="2000" err="1"/>
              <a:t>Chaar</a:t>
            </a:r>
            <a:r>
              <a:rPr lang="en-US" sz="2000"/>
              <a:t>, J., </a:t>
            </a:r>
            <a:r>
              <a:rPr lang="en-US" sz="2000" err="1"/>
              <a:t>Chillarege</a:t>
            </a:r>
            <a:r>
              <a:rPr lang="en-US" sz="2000"/>
              <a:t>, R., Jones, K., Atkinson, J. S., &amp; </a:t>
            </a:r>
            <a:r>
              <a:rPr lang="en-US" sz="2000" err="1"/>
              <a:t>Yonezawa</a:t>
            </a:r>
            <a:r>
              <a:rPr lang="en-US" sz="2000"/>
              <a:t>, M. (1994).</a:t>
            </a:r>
            <a:br>
              <a:rPr lang="en-US" sz="2000"/>
            </a:br>
            <a:r>
              <a:rPr lang="en-US" sz="2000"/>
              <a:t>In-process improvement through defect data interpretation. </a:t>
            </a:r>
            <a:r>
              <a:rPr lang="en-US" sz="2000" i="1"/>
              <a:t>IBM Systems Journal</a:t>
            </a:r>
            <a:r>
              <a:rPr lang="en-US" sz="2000"/>
              <a:t>, </a:t>
            </a:r>
            <a:r>
              <a:rPr lang="en-US" sz="2000" i="1"/>
              <a:t>33</a:t>
            </a:r>
            <a:r>
              <a:rPr lang="en-US" sz="2000"/>
              <a:t>(1), 182-214.</a:t>
            </a:r>
            <a:endParaRPr lang="en-US" sz="200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28DD3-CABA-9384-F30E-42C6A72F954F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>
                <a:solidFill>
                  <a:schemeClr val="bg1">
                    <a:lumMod val="50000"/>
                  </a:schemeClr>
                </a:solidFill>
              </a:rPr>
              <a:t>RM 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Dividend</vt:lpstr>
      <vt:lpstr>PowerPoint Presentation</vt:lpstr>
      <vt:lpstr>Software process</vt:lpstr>
      <vt:lpstr>Waterfall model</vt:lpstr>
      <vt:lpstr>V - model</vt:lpstr>
      <vt:lpstr>Prototyping model</vt:lpstr>
      <vt:lpstr>Incremental development</vt:lpstr>
      <vt:lpstr>Rapid Application Development (RAD)</vt:lpstr>
      <vt:lpstr>Rational Unified Process (RUP)</vt:lpstr>
      <vt:lpstr>Risk profile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Ch.02 - Software Developmnet Process Model</dc:title>
  <dc:subject>Software Engineering</dc:subject>
  <dc:creator>M. Mahmudul Hasan</dc:creator>
  <cp:revision>6</cp:revision>
  <dcterms:created xsi:type="dcterms:W3CDTF">2019-05-13T08:37:20Z</dcterms:created>
  <dcterms:modified xsi:type="dcterms:W3CDTF">2026-02-02T02:53:56Z</dcterms:modified>
</cp:coreProperties>
</file>